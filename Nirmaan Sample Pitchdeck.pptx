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hFYpDriwz9lVnrp3/MDqw4y7eI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33CF3F6-58D9-48B8-A8FF-3B2FD9382EA0}">
  <a:tblStyle styleId="{A33CF3F6-58D9-48B8-A8FF-3B2FD9382EA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4"/>
          <p:cNvSpPr txBox="1"/>
          <p:nvPr>
            <p:ph type="title"/>
          </p:nvPr>
        </p:nvSpPr>
        <p:spPr>
          <a:xfrm>
            <a:off x="460120" y="571689"/>
            <a:ext cx="8600694" cy="801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" type="body"/>
          </p:nvPr>
        </p:nvSpPr>
        <p:spPr>
          <a:xfrm>
            <a:off x="341908" y="2281338"/>
            <a:ext cx="11508740" cy="369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D9EAD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6"/>
          <p:cNvSpPr/>
          <p:nvPr/>
        </p:nvSpPr>
        <p:spPr>
          <a:xfrm>
            <a:off x="152400" y="161925"/>
            <a:ext cx="11887200" cy="6534150"/>
          </a:xfrm>
          <a:custGeom>
            <a:rect b="b" l="l" r="r" t="t"/>
            <a:pathLst>
              <a:path extrusionOk="0" h="6534150" w="11887200">
                <a:moveTo>
                  <a:pt x="0" y="0"/>
                </a:moveTo>
                <a:lnTo>
                  <a:pt x="11887199" y="0"/>
                </a:lnTo>
                <a:lnTo>
                  <a:pt x="11887199" y="6534149"/>
                </a:lnTo>
                <a:lnTo>
                  <a:pt x="0" y="653414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571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6"/>
          <p:cNvSpPr txBox="1"/>
          <p:nvPr>
            <p:ph type="title"/>
          </p:nvPr>
        </p:nvSpPr>
        <p:spPr>
          <a:xfrm>
            <a:off x="460120" y="571689"/>
            <a:ext cx="8600694" cy="801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 txBox="1"/>
          <p:nvPr>
            <p:ph type="title"/>
          </p:nvPr>
        </p:nvSpPr>
        <p:spPr>
          <a:xfrm>
            <a:off x="460120" y="571689"/>
            <a:ext cx="8600694" cy="801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D9EAD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3"/>
          <p:cNvSpPr txBox="1"/>
          <p:nvPr>
            <p:ph type="title"/>
          </p:nvPr>
        </p:nvSpPr>
        <p:spPr>
          <a:xfrm>
            <a:off x="460120" y="571689"/>
            <a:ext cx="8600694" cy="801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3"/>
          <p:cNvSpPr txBox="1"/>
          <p:nvPr>
            <p:ph idx="1" type="body"/>
          </p:nvPr>
        </p:nvSpPr>
        <p:spPr>
          <a:xfrm>
            <a:off x="341908" y="2281338"/>
            <a:ext cx="11508740" cy="369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/>
          <p:nvPr/>
        </p:nvSpPr>
        <p:spPr>
          <a:xfrm>
            <a:off x="152400" y="161925"/>
            <a:ext cx="11887200" cy="6534784"/>
          </a:xfrm>
          <a:custGeom>
            <a:rect b="b" l="l" r="r" t="t"/>
            <a:pathLst>
              <a:path extrusionOk="0" h="6534784" w="11887200">
                <a:moveTo>
                  <a:pt x="0" y="0"/>
                </a:moveTo>
                <a:lnTo>
                  <a:pt x="11887199" y="0"/>
                </a:lnTo>
                <a:lnTo>
                  <a:pt x="11887199" y="6534299"/>
                </a:lnTo>
                <a:lnTo>
                  <a:pt x="0" y="653429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571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"/>
          <p:cNvSpPr txBox="1"/>
          <p:nvPr/>
        </p:nvSpPr>
        <p:spPr>
          <a:xfrm>
            <a:off x="3762250" y="4225810"/>
            <a:ext cx="4666500" cy="18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1024255" lvl="0" marL="12700" marR="5080" rtl="0" algn="l">
              <a:lnSpc>
                <a:spcPct val="12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&lt;&lt;Startup Name&gt;&gt; Nirmaan Pre-Incubator Application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1706245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Jan 202</a:t>
            </a:r>
            <a:r>
              <a:rPr lang="en-US" sz="2400"/>
              <a:t>6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"/>
          <p:cNvSpPr txBox="1"/>
          <p:nvPr>
            <p:ph type="title"/>
          </p:nvPr>
        </p:nvSpPr>
        <p:spPr>
          <a:xfrm>
            <a:off x="3011487" y="2342298"/>
            <a:ext cx="6163310" cy="1582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6975">
            <a:spAutoFit/>
          </a:bodyPr>
          <a:lstStyle/>
          <a:p>
            <a:pPr indent="0" lvl="0" marL="444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NIRMAAN PITCH DECK</a:t>
            </a:r>
            <a:endParaRPr sz="2600"/>
          </a:p>
          <a:p>
            <a:pPr indent="0" lvl="0" marL="0" rtl="0" algn="ctr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None/>
            </a:pPr>
            <a:r>
              <a:rPr lang="en-US" sz="6000">
                <a:latin typeface="Arial"/>
                <a:ea typeface="Arial"/>
                <a:cs typeface="Arial"/>
                <a:sym typeface="Arial"/>
              </a:rPr>
              <a:t>&lt;&lt;Startup Logo&gt;&gt;</a:t>
            </a:r>
            <a:endParaRPr sz="6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" name="Google Shape;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7010" y="580497"/>
            <a:ext cx="1577974" cy="157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/>
          <p:nvPr/>
        </p:nvSpPr>
        <p:spPr>
          <a:xfrm>
            <a:off x="152400" y="161925"/>
            <a:ext cx="11887200" cy="6534784"/>
          </a:xfrm>
          <a:custGeom>
            <a:rect b="b" l="l" r="r" t="t"/>
            <a:pathLst>
              <a:path extrusionOk="0" h="6534784" w="11887200">
                <a:moveTo>
                  <a:pt x="0" y="0"/>
                </a:moveTo>
                <a:lnTo>
                  <a:pt x="11887199" y="0"/>
                </a:lnTo>
                <a:lnTo>
                  <a:pt x="11887199" y="6534299"/>
                </a:lnTo>
                <a:lnTo>
                  <a:pt x="0" y="653429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571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460120" y="571689"/>
            <a:ext cx="8600694" cy="801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149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About You/Your Team</a:t>
            </a:r>
            <a:endParaRPr/>
          </a:p>
        </p:txBody>
      </p:sp>
      <p:graphicFrame>
        <p:nvGraphicFramePr>
          <p:cNvPr id="56" name="Google Shape;56;p2"/>
          <p:cNvGraphicFramePr/>
          <p:nvPr/>
        </p:nvGraphicFramePr>
        <p:xfrm>
          <a:off x="380008" y="22813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{A33CF3F6-58D9-48B8-A8FF-3B2FD9382EA0}</a:tableStyleId>
              </a:tblPr>
              <a:tblGrid>
                <a:gridCol w="1631325"/>
                <a:gridCol w="1631325"/>
                <a:gridCol w="1248400"/>
                <a:gridCol w="1028700"/>
                <a:gridCol w="2261875"/>
                <a:gridCol w="1988825"/>
                <a:gridCol w="1631950"/>
              </a:tblGrid>
              <a:tr h="48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Photo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9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9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746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9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9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772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Skillsets I Bring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9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524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Passion / Interest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9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45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Role in Team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9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/>
                    </a:solidFill>
                  </a:tcPr>
                </a:tc>
              </a:tr>
              <a:tr h="68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E1CE"/>
                    </a:solidFill>
                  </a:tcPr>
                </a:tc>
              </a:tr>
              <a:tr h="64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E7"/>
                    </a:solidFill>
                  </a:tcPr>
                </a:tc>
              </a:tr>
              <a:tr h="71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E1CE"/>
                    </a:solidFill>
                  </a:tcPr>
                </a:tc>
              </a:tr>
              <a:tr h="116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3"/>
          <p:cNvGraphicFramePr/>
          <p:nvPr/>
        </p:nvGraphicFramePr>
        <p:xfrm>
          <a:off x="402399" y="4630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{A33CF3F6-58D9-48B8-A8FF-3B2FD9382EA0}</a:tableStyleId>
              </a:tblPr>
              <a:tblGrid>
                <a:gridCol w="2949575"/>
                <a:gridCol w="8424550"/>
              </a:tblGrid>
              <a:tr h="855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Industry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35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[Mention which industry is this idea useful for? (Refer application form)]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41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BF4"/>
                    </a:solidFill>
                  </a:tcPr>
                </a:tc>
              </a:tr>
              <a:tr h="987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Solution Type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89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[Mention if it's a Hardware/Software/Hybrid company (refer application form)]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9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BF4"/>
                    </a:solidFill>
                  </a:tcPr>
                </a:tc>
              </a:tr>
              <a:tr h="872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Technology being Used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[Briefly mention which technology is the startup building upon (refer application form)]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24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BF4"/>
                    </a:solidFill>
                  </a:tcPr>
                </a:tc>
              </a:tr>
              <a:tr h="1600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4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Stage of the Venture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419734" lvl="0" marL="624840" marR="20447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[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Mention one of the following: 1) Idea 2) Pre-Revenue 3) Prototyping 4) MVP 5) Growth 6) Early Customers 7) Idea Validation 8) Problem Identification]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BF4"/>
                    </a:solidFill>
                  </a:tcPr>
                </a:tc>
              </a:tr>
              <a:tr h="1600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673735" lvl="0" marL="1049020" marR="370840" rtl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Intellectual Property Rights?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84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2711450" lvl="0" marL="2858770" marR="14859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[Mention if you have / potential to have a IP right. If you have them, mention how many and which countries]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BF4"/>
                    </a:solidFill>
                  </a:tcPr>
                </a:tc>
              </a:tr>
            </a:tbl>
          </a:graphicData>
        </a:graphic>
      </p:graphicFrame>
      <p:sp>
        <p:nvSpPr>
          <p:cNvPr id="62" name="Google Shape;62;p3"/>
          <p:cNvSpPr/>
          <p:nvPr/>
        </p:nvSpPr>
        <p:spPr>
          <a:xfrm>
            <a:off x="152400" y="161925"/>
            <a:ext cx="11887200" cy="6534150"/>
          </a:xfrm>
          <a:custGeom>
            <a:rect b="b" l="l" r="r" t="t"/>
            <a:pathLst>
              <a:path extrusionOk="0" h="6534150" w="11887200">
                <a:moveTo>
                  <a:pt x="0" y="0"/>
                </a:moveTo>
                <a:lnTo>
                  <a:pt x="11887199" y="0"/>
                </a:lnTo>
                <a:lnTo>
                  <a:pt x="11887199" y="6534149"/>
                </a:lnTo>
                <a:lnTo>
                  <a:pt x="0" y="653414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571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"/>
          <p:cNvSpPr/>
          <p:nvPr/>
        </p:nvSpPr>
        <p:spPr>
          <a:xfrm>
            <a:off x="244475" y="1218324"/>
            <a:ext cx="5690235" cy="5286375"/>
          </a:xfrm>
          <a:custGeom>
            <a:rect b="b" l="l" r="r" t="t"/>
            <a:pathLst>
              <a:path extrusionOk="0" h="5286375" w="5690235">
                <a:moveTo>
                  <a:pt x="0" y="0"/>
                </a:moveTo>
                <a:lnTo>
                  <a:pt x="5689799" y="0"/>
                </a:lnTo>
                <a:lnTo>
                  <a:pt x="5689799" y="5285999"/>
                </a:lnTo>
                <a:lnTo>
                  <a:pt x="0" y="528599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6291624" y="1218324"/>
            <a:ext cx="5327650" cy="5286375"/>
          </a:xfrm>
          <a:custGeom>
            <a:rect b="b" l="l" r="r" t="t"/>
            <a:pathLst>
              <a:path extrusionOk="0" h="5286375" w="5327650">
                <a:moveTo>
                  <a:pt x="0" y="0"/>
                </a:moveTo>
                <a:lnTo>
                  <a:pt x="5327399" y="0"/>
                </a:lnTo>
                <a:lnTo>
                  <a:pt x="5327399" y="5285999"/>
                </a:lnTo>
                <a:lnTo>
                  <a:pt x="0" y="528599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 txBox="1"/>
          <p:nvPr/>
        </p:nvSpPr>
        <p:spPr>
          <a:xfrm>
            <a:off x="275074" y="510900"/>
            <a:ext cx="5690235" cy="57277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857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Problem we see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"/>
          <p:cNvSpPr txBox="1"/>
          <p:nvPr>
            <p:ph type="title"/>
          </p:nvPr>
        </p:nvSpPr>
        <p:spPr>
          <a:xfrm>
            <a:off x="6291624" y="510900"/>
            <a:ext cx="5327650" cy="57277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857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Solutions we give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152400" y="161925"/>
            <a:ext cx="11887200" cy="6534150"/>
          </a:xfrm>
          <a:custGeom>
            <a:rect b="b" l="l" r="r" t="t"/>
            <a:pathLst>
              <a:path extrusionOk="0" h="6534150" w="11887200">
                <a:moveTo>
                  <a:pt x="0" y="0"/>
                </a:moveTo>
                <a:lnTo>
                  <a:pt x="11887199" y="0"/>
                </a:lnTo>
                <a:lnTo>
                  <a:pt x="11887199" y="6534149"/>
                </a:lnTo>
                <a:lnTo>
                  <a:pt x="0" y="653414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571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>
            <p:ph type="title"/>
          </p:nvPr>
        </p:nvSpPr>
        <p:spPr>
          <a:xfrm>
            <a:off x="460120" y="571689"/>
            <a:ext cx="8600694" cy="801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Describe Your Target Market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/>
          <p:nvPr/>
        </p:nvSpPr>
        <p:spPr>
          <a:xfrm>
            <a:off x="152400" y="161925"/>
            <a:ext cx="11887200" cy="6534150"/>
          </a:xfrm>
          <a:custGeom>
            <a:rect b="b" l="l" r="r" t="t"/>
            <a:pathLst>
              <a:path extrusionOk="0" h="6534150" w="11887200">
                <a:moveTo>
                  <a:pt x="0" y="0"/>
                </a:moveTo>
                <a:lnTo>
                  <a:pt x="11887199" y="0"/>
                </a:lnTo>
                <a:lnTo>
                  <a:pt x="11887199" y="6534149"/>
                </a:lnTo>
                <a:lnTo>
                  <a:pt x="0" y="653414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571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 txBox="1"/>
          <p:nvPr>
            <p:ph type="title"/>
          </p:nvPr>
        </p:nvSpPr>
        <p:spPr>
          <a:xfrm>
            <a:off x="460120" y="571689"/>
            <a:ext cx="8600694" cy="801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User Persona</a:t>
            </a:r>
            <a:endParaRPr/>
          </a:p>
        </p:txBody>
      </p:sp>
      <p:sp>
        <p:nvSpPr>
          <p:cNvPr id="83" name="Google Shape;83;p6"/>
          <p:cNvSpPr txBox="1"/>
          <p:nvPr/>
        </p:nvSpPr>
        <p:spPr>
          <a:xfrm>
            <a:off x="1059792" y="1802663"/>
            <a:ext cx="5154930" cy="122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07975" lvl="0" marL="320675" rtl="0" algn="l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Who are your customers?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07975" lvl="0" marL="320675" rtl="0" algn="l">
              <a:lnSpc>
                <a:spcPct val="108035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Who is paying for the product?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07975" lvl="0" marL="320675" rtl="0" algn="l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Who is using the product?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/>
          <p:cNvSpPr txBox="1"/>
          <p:nvPr>
            <p:ph type="title"/>
          </p:nvPr>
        </p:nvSpPr>
        <p:spPr>
          <a:xfrm>
            <a:off x="460120" y="571689"/>
            <a:ext cx="8600694" cy="801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1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latin typeface="Arial"/>
                <a:ea typeface="Arial"/>
                <a:cs typeface="Arial"/>
                <a:sym typeface="Arial"/>
              </a:rPr>
              <a:t>Competitor Analysis</a:t>
            </a:r>
            <a:endParaRPr sz="4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" name="Google Shape;89;p7"/>
          <p:cNvGrpSpPr/>
          <p:nvPr/>
        </p:nvGrpSpPr>
        <p:grpSpPr>
          <a:xfrm>
            <a:off x="380745" y="1834979"/>
            <a:ext cx="11452225" cy="4888230"/>
            <a:chOff x="380745" y="1834979"/>
            <a:chExt cx="11452225" cy="4888230"/>
          </a:xfrm>
        </p:grpSpPr>
        <p:sp>
          <p:nvSpPr>
            <p:cNvPr id="90" name="Google Shape;90;p7"/>
            <p:cNvSpPr/>
            <p:nvPr/>
          </p:nvSpPr>
          <p:spPr>
            <a:xfrm>
              <a:off x="387095" y="1841329"/>
              <a:ext cx="11439525" cy="4875530"/>
            </a:xfrm>
            <a:custGeom>
              <a:rect b="b" l="l" r="r" t="t"/>
              <a:pathLst>
                <a:path extrusionOk="0" h="4875530" w="11439525">
                  <a:moveTo>
                    <a:pt x="11439149" y="4875374"/>
                  </a:moveTo>
                  <a:lnTo>
                    <a:pt x="0" y="4875374"/>
                  </a:lnTo>
                  <a:lnTo>
                    <a:pt x="0" y="0"/>
                  </a:lnTo>
                  <a:lnTo>
                    <a:pt x="11439149" y="0"/>
                  </a:lnTo>
                  <a:lnTo>
                    <a:pt x="11439149" y="48753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387096" y="1841334"/>
              <a:ext cx="11439525" cy="711200"/>
            </a:xfrm>
            <a:custGeom>
              <a:rect b="b" l="l" r="r" t="t"/>
              <a:pathLst>
                <a:path extrusionOk="0" h="711200" w="11439525">
                  <a:moveTo>
                    <a:pt x="11439144" y="0"/>
                  </a:moveTo>
                  <a:lnTo>
                    <a:pt x="11439144" y="0"/>
                  </a:lnTo>
                  <a:lnTo>
                    <a:pt x="0" y="0"/>
                  </a:lnTo>
                  <a:lnTo>
                    <a:pt x="0" y="710730"/>
                  </a:lnTo>
                  <a:lnTo>
                    <a:pt x="11439144" y="710730"/>
                  </a:lnTo>
                  <a:lnTo>
                    <a:pt x="11439144" y="0"/>
                  </a:lnTo>
                  <a:close/>
                </a:path>
              </a:pathLst>
            </a:custGeom>
            <a:solidFill>
              <a:srgbClr val="A8D08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7"/>
            <p:cNvSpPr/>
            <p:nvPr/>
          </p:nvSpPr>
          <p:spPr>
            <a:xfrm>
              <a:off x="387096" y="2552064"/>
              <a:ext cx="11439525" cy="4164965"/>
            </a:xfrm>
            <a:custGeom>
              <a:rect b="b" l="l" r="r" t="t"/>
              <a:pathLst>
                <a:path extrusionOk="0" h="4164965" w="11439525">
                  <a:moveTo>
                    <a:pt x="11439144" y="3453917"/>
                  </a:moveTo>
                  <a:lnTo>
                    <a:pt x="11439144" y="3453917"/>
                  </a:lnTo>
                  <a:lnTo>
                    <a:pt x="0" y="3453917"/>
                  </a:lnTo>
                  <a:lnTo>
                    <a:pt x="0" y="4164647"/>
                  </a:lnTo>
                  <a:lnTo>
                    <a:pt x="11439144" y="4164647"/>
                  </a:lnTo>
                  <a:lnTo>
                    <a:pt x="11439144" y="3453917"/>
                  </a:lnTo>
                  <a:close/>
                </a:path>
                <a:path extrusionOk="0" h="4164965" w="11439525">
                  <a:moveTo>
                    <a:pt x="11439144" y="1828800"/>
                  </a:moveTo>
                  <a:lnTo>
                    <a:pt x="11439144" y="1828800"/>
                  </a:lnTo>
                  <a:lnTo>
                    <a:pt x="0" y="1828800"/>
                  </a:lnTo>
                  <a:lnTo>
                    <a:pt x="0" y="2743200"/>
                  </a:lnTo>
                  <a:lnTo>
                    <a:pt x="11439144" y="2743200"/>
                  </a:lnTo>
                  <a:lnTo>
                    <a:pt x="11439144" y="1828800"/>
                  </a:lnTo>
                  <a:close/>
                </a:path>
                <a:path extrusionOk="0" h="4164965" w="11439525">
                  <a:moveTo>
                    <a:pt x="11439144" y="0"/>
                  </a:moveTo>
                  <a:lnTo>
                    <a:pt x="11439144" y="0"/>
                  </a:lnTo>
                  <a:lnTo>
                    <a:pt x="0" y="0"/>
                  </a:lnTo>
                  <a:lnTo>
                    <a:pt x="0" y="914400"/>
                  </a:lnTo>
                  <a:lnTo>
                    <a:pt x="11439144" y="914400"/>
                  </a:lnTo>
                  <a:lnTo>
                    <a:pt x="11439144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7"/>
            <p:cNvSpPr/>
            <p:nvPr/>
          </p:nvSpPr>
          <p:spPr>
            <a:xfrm>
              <a:off x="380745" y="1834979"/>
              <a:ext cx="11452225" cy="4888230"/>
            </a:xfrm>
            <a:custGeom>
              <a:rect b="b" l="l" r="r" t="t"/>
              <a:pathLst>
                <a:path extrusionOk="0" h="4888230" w="11452225">
                  <a:moveTo>
                    <a:pt x="6349" y="0"/>
                  </a:moveTo>
                  <a:lnTo>
                    <a:pt x="6349" y="4888074"/>
                  </a:lnTo>
                </a:path>
                <a:path extrusionOk="0" h="4888230" w="11452225">
                  <a:moveTo>
                    <a:pt x="753099" y="0"/>
                  </a:moveTo>
                  <a:lnTo>
                    <a:pt x="753099" y="4888074"/>
                  </a:lnTo>
                </a:path>
                <a:path extrusionOk="0" h="4888230" w="11452225">
                  <a:moveTo>
                    <a:pt x="3819399" y="0"/>
                  </a:moveTo>
                  <a:lnTo>
                    <a:pt x="3819399" y="4888074"/>
                  </a:lnTo>
                </a:path>
                <a:path extrusionOk="0" h="4888230" w="11452225">
                  <a:moveTo>
                    <a:pt x="5725924" y="0"/>
                  </a:moveTo>
                  <a:lnTo>
                    <a:pt x="5725924" y="4888074"/>
                  </a:lnTo>
                </a:path>
                <a:path extrusionOk="0" h="4888230" w="11452225">
                  <a:moveTo>
                    <a:pt x="7632449" y="0"/>
                  </a:moveTo>
                  <a:lnTo>
                    <a:pt x="7632449" y="4888074"/>
                  </a:lnTo>
                </a:path>
                <a:path extrusionOk="0" h="4888230" w="11452225">
                  <a:moveTo>
                    <a:pt x="9538974" y="0"/>
                  </a:moveTo>
                  <a:lnTo>
                    <a:pt x="9538974" y="4888074"/>
                  </a:lnTo>
                </a:path>
                <a:path extrusionOk="0" h="4888230" w="11452225">
                  <a:moveTo>
                    <a:pt x="11445499" y="0"/>
                  </a:moveTo>
                  <a:lnTo>
                    <a:pt x="11445499" y="4888074"/>
                  </a:lnTo>
                </a:path>
                <a:path extrusionOk="0" h="4888230" w="11452225">
                  <a:moveTo>
                    <a:pt x="0" y="6349"/>
                  </a:moveTo>
                  <a:lnTo>
                    <a:pt x="11451849" y="6349"/>
                  </a:lnTo>
                </a:path>
                <a:path extrusionOk="0" h="4888230" w="11452225">
                  <a:moveTo>
                    <a:pt x="0" y="717074"/>
                  </a:moveTo>
                  <a:lnTo>
                    <a:pt x="11451849" y="717074"/>
                  </a:lnTo>
                </a:path>
                <a:path extrusionOk="0" h="4888230" w="11452225">
                  <a:moveTo>
                    <a:pt x="0" y="1631474"/>
                  </a:moveTo>
                  <a:lnTo>
                    <a:pt x="11451849" y="1631474"/>
                  </a:lnTo>
                </a:path>
                <a:path extrusionOk="0" h="4888230" w="11452225">
                  <a:moveTo>
                    <a:pt x="0" y="2545874"/>
                  </a:moveTo>
                  <a:lnTo>
                    <a:pt x="11451849" y="2545874"/>
                  </a:lnTo>
                </a:path>
                <a:path extrusionOk="0" h="4888230" w="11452225">
                  <a:moveTo>
                    <a:pt x="0" y="3460274"/>
                  </a:moveTo>
                  <a:lnTo>
                    <a:pt x="11451849" y="3460274"/>
                  </a:lnTo>
                </a:path>
                <a:path extrusionOk="0" h="4888230" w="11452225">
                  <a:moveTo>
                    <a:pt x="0" y="4170999"/>
                  </a:moveTo>
                  <a:lnTo>
                    <a:pt x="11451849" y="4170999"/>
                  </a:lnTo>
                </a:path>
                <a:path extrusionOk="0" h="4888230" w="11452225">
                  <a:moveTo>
                    <a:pt x="0" y="4881724"/>
                  </a:moveTo>
                  <a:lnTo>
                    <a:pt x="11451849" y="4881724"/>
                  </a:lnTo>
                </a:path>
              </a:pathLst>
            </a:custGeom>
            <a:noFill/>
            <a:ln cap="flat" cmpd="sng" w="12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7"/>
          <p:cNvSpPr txBox="1"/>
          <p:nvPr/>
        </p:nvSpPr>
        <p:spPr>
          <a:xfrm>
            <a:off x="526482" y="2037687"/>
            <a:ext cx="4679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S.No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 txBox="1"/>
          <p:nvPr/>
        </p:nvSpPr>
        <p:spPr>
          <a:xfrm>
            <a:off x="1562976" y="1900527"/>
            <a:ext cx="220599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722630" lvl="0" marL="73533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Feature / Aspect of the venture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 txBox="1"/>
          <p:nvPr/>
        </p:nvSpPr>
        <p:spPr>
          <a:xfrm>
            <a:off x="4523890" y="2037687"/>
            <a:ext cx="125857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Your Venture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6422155" y="2037687"/>
            <a:ext cx="12750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Competitor 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 txBox="1"/>
          <p:nvPr/>
        </p:nvSpPr>
        <p:spPr>
          <a:xfrm>
            <a:off x="8328680" y="2037687"/>
            <a:ext cx="12750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Competitor 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 txBox="1"/>
          <p:nvPr/>
        </p:nvSpPr>
        <p:spPr>
          <a:xfrm>
            <a:off x="10235206" y="2037687"/>
            <a:ext cx="12750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Competitor 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689839" y="2850250"/>
            <a:ext cx="141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 txBox="1"/>
          <p:nvPr/>
        </p:nvSpPr>
        <p:spPr>
          <a:xfrm>
            <a:off x="1340459" y="2713090"/>
            <a:ext cx="265176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820419" lvl="0" marL="83248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Mention the feature you are comparing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 txBox="1"/>
          <p:nvPr/>
        </p:nvSpPr>
        <p:spPr>
          <a:xfrm>
            <a:off x="4286360" y="2713090"/>
            <a:ext cx="17335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4129" lvl="0" marL="3619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Does your venture have this feature?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6284024" y="2575930"/>
            <a:ext cx="1550670" cy="84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634" lvl="0" marL="1270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Does the competitor have this feature?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 txBox="1"/>
          <p:nvPr/>
        </p:nvSpPr>
        <p:spPr>
          <a:xfrm>
            <a:off x="8190549" y="2575930"/>
            <a:ext cx="1550670" cy="84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634" lvl="0" marL="1270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Does the competitor have this feature?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 txBox="1"/>
          <p:nvPr/>
        </p:nvSpPr>
        <p:spPr>
          <a:xfrm>
            <a:off x="10097075" y="2575930"/>
            <a:ext cx="1550670" cy="84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635" lvl="0" marL="12065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Does the competitor have this feature?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 txBox="1"/>
          <p:nvPr/>
        </p:nvSpPr>
        <p:spPr>
          <a:xfrm>
            <a:off x="689839" y="3764650"/>
            <a:ext cx="141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 txBox="1"/>
          <p:nvPr/>
        </p:nvSpPr>
        <p:spPr>
          <a:xfrm>
            <a:off x="1340459" y="3490330"/>
            <a:ext cx="265176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820419" lvl="0" marL="83248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Mention the feature you are comparing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 txBox="1"/>
          <p:nvPr/>
        </p:nvSpPr>
        <p:spPr>
          <a:xfrm>
            <a:off x="689839" y="4679050"/>
            <a:ext cx="141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 txBox="1"/>
          <p:nvPr/>
        </p:nvSpPr>
        <p:spPr>
          <a:xfrm>
            <a:off x="1340459" y="4404730"/>
            <a:ext cx="265176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820419" lvl="0" marL="83248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Mention the feature you are comparing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152400" y="161925"/>
            <a:ext cx="11887200" cy="6534784"/>
          </a:xfrm>
          <a:custGeom>
            <a:rect b="b" l="l" r="r" t="t"/>
            <a:pathLst>
              <a:path extrusionOk="0" h="6534784" w="11887200">
                <a:moveTo>
                  <a:pt x="0" y="0"/>
                </a:moveTo>
                <a:lnTo>
                  <a:pt x="11887199" y="0"/>
                </a:lnTo>
                <a:lnTo>
                  <a:pt x="11887199" y="6534299"/>
                </a:lnTo>
                <a:lnTo>
                  <a:pt x="0" y="653429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571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/>
          <p:nvPr/>
        </p:nvSpPr>
        <p:spPr>
          <a:xfrm>
            <a:off x="152400" y="161925"/>
            <a:ext cx="11887200" cy="6534150"/>
          </a:xfrm>
          <a:custGeom>
            <a:rect b="b" l="l" r="r" t="t"/>
            <a:pathLst>
              <a:path extrusionOk="0" h="6534150" w="11887200">
                <a:moveTo>
                  <a:pt x="0" y="0"/>
                </a:moveTo>
                <a:lnTo>
                  <a:pt x="11887199" y="0"/>
                </a:lnTo>
                <a:lnTo>
                  <a:pt x="11887199" y="6534149"/>
                </a:lnTo>
                <a:lnTo>
                  <a:pt x="0" y="653414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571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"/>
          <p:cNvSpPr txBox="1"/>
          <p:nvPr>
            <p:ph type="title"/>
          </p:nvPr>
        </p:nvSpPr>
        <p:spPr>
          <a:xfrm>
            <a:off x="460120" y="571689"/>
            <a:ext cx="8600694" cy="801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Unique Selling Point</a:t>
            </a:r>
            <a:endParaRPr/>
          </a:p>
        </p:txBody>
      </p:sp>
      <p:sp>
        <p:nvSpPr>
          <p:cNvPr id="117" name="Google Shape;117;p8"/>
          <p:cNvSpPr txBox="1"/>
          <p:nvPr/>
        </p:nvSpPr>
        <p:spPr>
          <a:xfrm>
            <a:off x="1015347" y="1718335"/>
            <a:ext cx="9841230" cy="155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6500">
            <a:spAutoFit/>
          </a:bodyPr>
          <a:lstStyle/>
          <a:p>
            <a:pPr indent="-352425" lvl="0" marL="3651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What is our unique selling point?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52425" lvl="0" marL="365125" rtl="0" algn="l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Why would customers buy from us and not our competitors?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52425" lvl="0" marL="365125" rtl="0" algn="l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Why are we(the team) most suited to grow this idea?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9"/>
          <p:cNvGrpSpPr/>
          <p:nvPr/>
        </p:nvGrpSpPr>
        <p:grpSpPr>
          <a:xfrm>
            <a:off x="508929" y="625214"/>
            <a:ext cx="11174730" cy="5806440"/>
            <a:chOff x="508929" y="625214"/>
            <a:chExt cx="11174730" cy="5806440"/>
          </a:xfrm>
        </p:grpSpPr>
        <p:sp>
          <p:nvSpPr>
            <p:cNvPr id="123" name="Google Shape;123;p9"/>
            <p:cNvSpPr/>
            <p:nvPr/>
          </p:nvSpPr>
          <p:spPr>
            <a:xfrm>
              <a:off x="515279" y="631564"/>
              <a:ext cx="11162030" cy="5793740"/>
            </a:xfrm>
            <a:custGeom>
              <a:rect b="b" l="l" r="r" t="t"/>
              <a:pathLst>
                <a:path extrusionOk="0" h="5793740" w="11162030">
                  <a:moveTo>
                    <a:pt x="11161449" y="5793624"/>
                  </a:moveTo>
                  <a:lnTo>
                    <a:pt x="0" y="5793624"/>
                  </a:lnTo>
                  <a:lnTo>
                    <a:pt x="0" y="0"/>
                  </a:lnTo>
                  <a:lnTo>
                    <a:pt x="11161449" y="0"/>
                  </a:lnTo>
                  <a:lnTo>
                    <a:pt x="11161449" y="5793624"/>
                  </a:lnTo>
                  <a:close/>
                </a:path>
              </a:pathLst>
            </a:custGeom>
            <a:solidFill>
              <a:srgbClr val="E7EBF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9"/>
            <p:cNvSpPr/>
            <p:nvPr/>
          </p:nvSpPr>
          <p:spPr>
            <a:xfrm>
              <a:off x="515277" y="631570"/>
              <a:ext cx="11162030" cy="945515"/>
            </a:xfrm>
            <a:custGeom>
              <a:rect b="b" l="l" r="r" t="t"/>
              <a:pathLst>
                <a:path extrusionOk="0" h="945515" w="11162030">
                  <a:moveTo>
                    <a:pt x="11161446" y="0"/>
                  </a:moveTo>
                  <a:lnTo>
                    <a:pt x="5580723" y="0"/>
                  </a:lnTo>
                  <a:lnTo>
                    <a:pt x="0" y="0"/>
                  </a:lnTo>
                  <a:lnTo>
                    <a:pt x="0" y="945426"/>
                  </a:lnTo>
                  <a:lnTo>
                    <a:pt x="5580723" y="945426"/>
                  </a:lnTo>
                  <a:lnTo>
                    <a:pt x="11161446" y="945426"/>
                  </a:lnTo>
                  <a:lnTo>
                    <a:pt x="11161446" y="0"/>
                  </a:lnTo>
                  <a:close/>
                </a:path>
              </a:pathLst>
            </a:custGeom>
            <a:solidFill>
              <a:srgbClr val="A8D08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9"/>
            <p:cNvSpPr/>
            <p:nvPr/>
          </p:nvSpPr>
          <p:spPr>
            <a:xfrm>
              <a:off x="508929" y="625214"/>
              <a:ext cx="11174730" cy="5806440"/>
            </a:xfrm>
            <a:custGeom>
              <a:rect b="b" l="l" r="r" t="t"/>
              <a:pathLst>
                <a:path extrusionOk="0" h="5806440" w="11174730">
                  <a:moveTo>
                    <a:pt x="6349" y="0"/>
                  </a:moveTo>
                  <a:lnTo>
                    <a:pt x="6349" y="5806324"/>
                  </a:lnTo>
                </a:path>
                <a:path extrusionOk="0" h="5806440" w="11174730">
                  <a:moveTo>
                    <a:pt x="5587074" y="0"/>
                  </a:moveTo>
                  <a:lnTo>
                    <a:pt x="5587074" y="5806324"/>
                  </a:lnTo>
                </a:path>
                <a:path extrusionOk="0" h="5806440" w="11174730">
                  <a:moveTo>
                    <a:pt x="11167799" y="0"/>
                  </a:moveTo>
                  <a:lnTo>
                    <a:pt x="11167799" y="5806324"/>
                  </a:lnTo>
                </a:path>
                <a:path extrusionOk="0" h="5806440" w="11174730">
                  <a:moveTo>
                    <a:pt x="0" y="6349"/>
                  </a:moveTo>
                  <a:lnTo>
                    <a:pt x="11174149" y="6349"/>
                  </a:lnTo>
                </a:path>
                <a:path extrusionOk="0" h="5806440" w="11174730">
                  <a:moveTo>
                    <a:pt x="0" y="951774"/>
                  </a:moveTo>
                  <a:lnTo>
                    <a:pt x="11174149" y="951774"/>
                  </a:lnTo>
                </a:path>
                <a:path extrusionOk="0" h="5806440" w="11174730">
                  <a:moveTo>
                    <a:pt x="0" y="5799974"/>
                  </a:moveTo>
                  <a:lnTo>
                    <a:pt x="11174149" y="5799974"/>
                  </a:lnTo>
                </a:path>
              </a:pathLst>
            </a:custGeom>
            <a:noFill/>
            <a:ln cap="flat" cmpd="sng" w="12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9"/>
          <p:cNvSpPr txBox="1"/>
          <p:nvPr/>
        </p:nvSpPr>
        <p:spPr>
          <a:xfrm>
            <a:off x="2031232" y="945273"/>
            <a:ext cx="25469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WHAT YOU ARE GOOD AT?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 txBox="1"/>
          <p:nvPr/>
        </p:nvSpPr>
        <p:spPr>
          <a:xfrm>
            <a:off x="7283903" y="945273"/>
            <a:ext cx="32029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WHAT DO YOU NEED HELP WITH?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152400" y="161925"/>
            <a:ext cx="11887200" cy="6534150"/>
          </a:xfrm>
          <a:custGeom>
            <a:rect b="b" l="l" r="r" t="t"/>
            <a:pathLst>
              <a:path extrusionOk="0" h="6534150" w="11887200">
                <a:moveTo>
                  <a:pt x="0" y="0"/>
                </a:moveTo>
                <a:lnTo>
                  <a:pt x="11887199" y="0"/>
                </a:lnTo>
                <a:lnTo>
                  <a:pt x="11887199" y="6534149"/>
                </a:lnTo>
                <a:lnTo>
                  <a:pt x="0" y="653414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571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/>
          <p:nvPr/>
        </p:nvSpPr>
        <p:spPr>
          <a:xfrm>
            <a:off x="152400" y="161925"/>
            <a:ext cx="11887200" cy="6534150"/>
          </a:xfrm>
          <a:custGeom>
            <a:rect b="b" l="l" r="r" t="t"/>
            <a:pathLst>
              <a:path extrusionOk="0" h="6534150" w="11887200">
                <a:moveTo>
                  <a:pt x="0" y="0"/>
                </a:moveTo>
                <a:lnTo>
                  <a:pt x="11887199" y="0"/>
                </a:lnTo>
                <a:lnTo>
                  <a:pt x="11887199" y="6534149"/>
                </a:lnTo>
                <a:lnTo>
                  <a:pt x="0" y="653414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571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"/>
          <p:cNvSpPr txBox="1"/>
          <p:nvPr>
            <p:ph type="title"/>
          </p:nvPr>
        </p:nvSpPr>
        <p:spPr>
          <a:xfrm>
            <a:off x="460120" y="571689"/>
            <a:ext cx="8600694" cy="801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450">
            <a:spAutoFit/>
          </a:bodyPr>
          <a:lstStyle/>
          <a:p>
            <a:pPr indent="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Additional Information</a:t>
            </a:r>
            <a:endParaRPr sz="4400"/>
          </a:p>
        </p:txBody>
      </p:sp>
      <p:sp>
        <p:nvSpPr>
          <p:cNvPr id="135" name="Google Shape;135;p10"/>
          <p:cNvSpPr txBox="1"/>
          <p:nvPr/>
        </p:nvSpPr>
        <p:spPr>
          <a:xfrm>
            <a:off x="1059792" y="1802663"/>
            <a:ext cx="5332730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07975" lvl="0" marL="320675" rtl="0" algn="l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Anything else you wish to share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07975" lvl="0" marL="320675" rtl="0" algn="l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Links / information etc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 txBox="1"/>
          <p:nvPr>
            <p:ph type="title"/>
          </p:nvPr>
        </p:nvSpPr>
        <p:spPr>
          <a:xfrm>
            <a:off x="460120" y="571689"/>
            <a:ext cx="8600694" cy="801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Seed Fund Utilization</a:t>
            </a:r>
            <a:endParaRPr/>
          </a:p>
        </p:txBody>
      </p:sp>
      <p:sp>
        <p:nvSpPr>
          <p:cNvPr id="141" name="Google Shape;141;p11"/>
          <p:cNvSpPr txBox="1"/>
          <p:nvPr/>
        </p:nvSpPr>
        <p:spPr>
          <a:xfrm>
            <a:off x="1059792" y="1802663"/>
            <a:ext cx="101430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309244" lvl="0" marL="321310" marR="508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How do you plan to make use of the seed fund for your product development. Please read the Nirmaan Student’s Guide book before answering this question.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152400" y="187114"/>
            <a:ext cx="11768328" cy="6517815"/>
          </a:xfrm>
          <a:custGeom>
            <a:rect b="b" l="l" r="r" t="t"/>
            <a:pathLst>
              <a:path extrusionOk="0" h="6534150" w="11887200">
                <a:moveTo>
                  <a:pt x="0" y="0"/>
                </a:moveTo>
                <a:lnTo>
                  <a:pt x="11887199" y="0"/>
                </a:lnTo>
                <a:lnTo>
                  <a:pt x="11887199" y="6534149"/>
                </a:lnTo>
                <a:lnTo>
                  <a:pt x="0" y="653414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571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"/>
          <p:cNvSpPr txBox="1"/>
          <p:nvPr>
            <p:ph type="title"/>
          </p:nvPr>
        </p:nvSpPr>
        <p:spPr>
          <a:xfrm>
            <a:off x="904875" y="2608276"/>
            <a:ext cx="3681729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Thank You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2026-01-28T07:31:10Z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2026-01-28T00:00:00Z</vt:filetime>
  </property>
  <property fmtid="{D5CDD505-2E9C-101B-9397-08002B2CF9AE}" pid="3" name="Creator">
    <vt:lpwstr>Google</vt:lpwstr>
  </property>
  <property fmtid="{D5CDD505-2E9C-101B-9397-08002B2CF9AE}" pid="4" name="LastSaved">
    <vt:filetime>2026-01-28T00:00:00Z</vt:filetime>
  </property>
</Properties>
</file>